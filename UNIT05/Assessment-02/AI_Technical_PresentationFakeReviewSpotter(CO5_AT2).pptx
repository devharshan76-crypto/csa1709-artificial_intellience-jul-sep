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8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51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imatsengineering.com/courses-offered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FF5A5F">
              <a:alpha val="1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55320" y="3067067"/>
            <a:ext cx="10881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Fake Review Spotter</a:t>
            </a:r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37902" y="423599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C9D2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distributed AI application for detecting fraudulent e-commerce feedback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9966960" y="-685800"/>
            <a:ext cx="3657600" cy="3657600"/>
          </a:xfrm>
          <a:prstGeom prst="ellipse">
            <a:avLst/>
          </a:prstGeom>
          <a:solidFill>
            <a:srgbClr val="00A896">
              <a:alpha val="12000"/>
            </a:srgbClr>
          </a:solidFill>
          <a:ln/>
        </p:spPr>
      </p:sp>
      <p:sp>
        <p:nvSpPr>
          <p:cNvPr id="24" name="Text 18"/>
          <p:cNvSpPr/>
          <p:nvPr/>
        </p:nvSpPr>
        <p:spPr>
          <a:xfrm>
            <a:off x="7721600" y="4615543"/>
            <a:ext cx="2519680" cy="1830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56583AE-3D6B-C1BF-EE2C-ED8531FF4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54" t="62175" r="10958" b="20269"/>
          <a:stretch>
            <a:fillRect/>
          </a:stretch>
        </p:blipFill>
        <p:spPr>
          <a:xfrm>
            <a:off x="1399032" y="75842"/>
            <a:ext cx="9478941" cy="15883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9618D99-36FD-CDE2-C6D7-B675817F01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429267" y="193916"/>
            <a:ext cx="9418470" cy="121184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F677103-3317-3170-3857-4FB9CFF0DB8B}"/>
              </a:ext>
            </a:extLst>
          </p:cNvPr>
          <p:cNvSpPr txBox="1"/>
          <p:nvPr/>
        </p:nvSpPr>
        <p:spPr>
          <a:xfrm>
            <a:off x="8171543" y="5443002"/>
            <a:ext cx="3799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K.B.Devarshan</a:t>
            </a: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(192511426)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7BA4A1-9869-989D-7D1C-68628A6D4DFE}"/>
              </a:ext>
            </a:extLst>
          </p:cNvPr>
          <p:cNvSpPr txBox="1"/>
          <p:nvPr/>
        </p:nvSpPr>
        <p:spPr>
          <a:xfrm>
            <a:off x="2177143" y="1973943"/>
            <a:ext cx="80641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CSA1709-ARTIFICIAL INTELLIGENCE</a:t>
            </a:r>
          </a:p>
          <a:p>
            <a:pPr algn="ctr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A7FA5B-E87E-4D14-BF53-0C8B35B82D6E}"/>
              </a:ext>
            </a:extLst>
          </p:cNvPr>
          <p:cNvSpPr txBox="1"/>
          <p:nvPr/>
        </p:nvSpPr>
        <p:spPr>
          <a:xfrm>
            <a:off x="1175656" y="5438575"/>
            <a:ext cx="3599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Dr.P.Rajaram</a:t>
            </a:r>
            <a:endParaRPr lang="en-IN" sz="24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Component Architecture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the Orange3 widget ecosystem separates ingestion, NLP, and classification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874520"/>
            <a:ext cx="640080" cy="64008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6" name="Image 0" descr="/home/claude/fakereview_pptx/icon_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789" y="194492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Data Ingestion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0392" y="3136392"/>
            <a:ext cx="2734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 review corpus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(Orange3 “Import Documents” / Corpus widget) — raw text + star rating + metadata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895344" y="2852928"/>
            <a:ext cx="393192" cy="237744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160020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46420" y="18745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fakereview_pptx/icon_cpu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829" y="194492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NLP Pre-processing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99432" y="3136392"/>
            <a:ext cx="2734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Tokenize → normalize → vectorize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(Preprocess Text, Bag of Words / TF-IDF widgets) → structured feature matrix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7644384" y="2852928"/>
            <a:ext cx="393192" cy="237744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6" name="Shape 12"/>
          <p:cNvSpPr/>
          <p:nvPr/>
        </p:nvSpPr>
        <p:spPr>
          <a:xfrm>
            <a:off x="8092440" y="1600200"/>
            <a:ext cx="324612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95460" y="1874520"/>
            <a:ext cx="640080" cy="64008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8" name="Image 2" descr="/home/claude/fakereview_pptx/icon_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5869" y="194492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26974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Classification Engine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8348472" y="3136392"/>
            <a:ext cx="27340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CN2 Rule Inducer consumes the feature matrix and outputs IF-THEN fraud rules, scored via Test &amp; 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6"/>
          <p:cNvSpPr/>
          <p:nvPr/>
        </p:nvSpPr>
        <p:spPr>
          <a:xfrm>
            <a:off x="594360" y="4709160"/>
            <a:ext cx="10972800" cy="1909354"/>
          </a:xfrm>
          <a:prstGeom prst="roundRect">
            <a:avLst>
              <a:gd name="adj" fmla="val 5143"/>
            </a:avLst>
          </a:prstGeom>
          <a:solidFill>
            <a:srgbClr val="1B1F3B"/>
          </a:solidFill>
          <a:ln/>
        </p:spPr>
      </p:sp>
      <p:sp>
        <p:nvSpPr>
          <p:cNvPr id="22" name="Text 17"/>
          <p:cNvSpPr/>
          <p:nvPr/>
        </p:nvSpPr>
        <p:spPr>
          <a:xfrm>
            <a:off x="914400" y="4864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INTERACTIONS — EXACT DATA HANDOFFS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914400" y="530352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19"/>
          <p:cNvSpPr/>
          <p:nvPr/>
        </p:nvSpPr>
        <p:spPr>
          <a:xfrm>
            <a:off x="1097280" y="52029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Corpus widget → Preprocess Text: raw documents + metadata table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914400" y="55915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1"/>
          <p:cNvSpPr/>
          <p:nvPr/>
        </p:nvSpPr>
        <p:spPr>
          <a:xfrm>
            <a:off x="1097280" y="54909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Preprocess Text → Bag of Words: tokenized corpus object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914400" y="587959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3"/>
          <p:cNvSpPr/>
          <p:nvPr/>
        </p:nvSpPr>
        <p:spPr>
          <a:xfrm>
            <a:off x="1097280" y="57790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Bag of Words → CN2 Rule Inducer: sparse numeric feature matrix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914400" y="616762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5"/>
          <p:cNvSpPr/>
          <p:nvPr/>
        </p:nvSpPr>
        <p:spPr>
          <a:xfrm>
            <a:off x="1097280" y="606704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CN2 Rule Inducer → Test &amp; Score / Confusion Matrix: rule set + predicted labels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Processing Pipeline: Raw Text → Feature Matrix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Tracing how a single review moves through ingestion, tokenization, and structuring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1812" y="1965960"/>
            <a:ext cx="1920240" cy="3246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8972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01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49324" y="265176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fakereview_pptx/icon_databa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698" y="2716134"/>
            <a:ext cx="456468" cy="456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1540" y="3429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Ingest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46404" y="384048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Review text, star rating, and timestamp loaded into a Corpus object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20340" y="3488436"/>
            <a:ext cx="219456" cy="20116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1" name="Shape 8"/>
          <p:cNvSpPr/>
          <p:nvPr/>
        </p:nvSpPr>
        <p:spPr>
          <a:xfrm>
            <a:off x="2958084" y="1965960"/>
            <a:ext cx="1920240" cy="3246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95244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02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25596" y="265176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/home/claude/fakereview_pptx/icon_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9970" y="2716134"/>
            <a:ext cx="456468" cy="4564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67812" y="3429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Clean &amp; Tokenize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122676" y="384048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Lowercasing, punctuation stripping, and word tokenization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896612" y="3488436"/>
            <a:ext cx="219456" cy="20116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18" name="Shape 14"/>
          <p:cNvSpPr/>
          <p:nvPr/>
        </p:nvSpPr>
        <p:spPr>
          <a:xfrm>
            <a:off x="5134356" y="1965960"/>
            <a:ext cx="1920240" cy="3246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271516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03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801868" y="265176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2" descr="/home/claude/fakereview_pptx/icon_refres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6242" y="2716134"/>
            <a:ext cx="456468" cy="4564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44084" y="3429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Normalize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5298948" y="384048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Stop-word removal and lemmatization reduce noise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7072884" y="3488436"/>
            <a:ext cx="219456" cy="20116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25" name="Shape 20"/>
          <p:cNvSpPr/>
          <p:nvPr/>
        </p:nvSpPr>
        <p:spPr>
          <a:xfrm>
            <a:off x="7310628" y="1965960"/>
            <a:ext cx="1920240" cy="3246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447788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04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7978140" y="2651760"/>
            <a:ext cx="585216" cy="585216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8" name="Image 3" descr="/home/claude/fakereview_pptx/icon_lay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2514" y="2716134"/>
            <a:ext cx="456468" cy="4564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20356" y="3429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Vectorize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7475220" y="384048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TF-IDF / Bag of Words builds a numeric feature matrix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9249156" y="3488436"/>
            <a:ext cx="219456" cy="201168"/>
          </a:xfrm>
          <a:prstGeom prst="rightArrow">
            <a:avLst/>
          </a:prstGeom>
          <a:solidFill>
            <a:schemeClr val="tx1"/>
          </a:solidFill>
          <a:ln/>
        </p:spPr>
      </p:sp>
      <p:sp>
        <p:nvSpPr>
          <p:cNvPr id="32" name="Shape 26"/>
          <p:cNvSpPr/>
          <p:nvPr/>
        </p:nvSpPr>
        <p:spPr>
          <a:xfrm>
            <a:off x="9486900" y="1965960"/>
            <a:ext cx="1920240" cy="3246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  <a:effectLst>
            <a:outerShdw blurRad="76200" dist="25400" dir="5400000" algn="bl" rotWithShape="0">
              <a:srgbClr val="1B1F3B">
                <a:alpha val="10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962406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05</a:t>
            </a:r>
            <a:endParaRPr lang="en-US" sz="28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10154412" y="2651760"/>
            <a:ext cx="585216" cy="585216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35" name="Image 4" descr="/home/claude/fakereview_pptx/icon_cpu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8786" y="2716134"/>
            <a:ext cx="456468" cy="4564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596628" y="342900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Feed Pipeline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0"/>
          <p:cNvSpPr/>
          <p:nvPr/>
        </p:nvSpPr>
        <p:spPr>
          <a:xfrm>
            <a:off x="9651492" y="3840480"/>
            <a:ext cx="15910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Matrix + labels passed to the classification engine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781812" y="5532120"/>
            <a:ext cx="10625328" cy="777240"/>
          </a:xfrm>
          <a:prstGeom prst="roundRect">
            <a:avLst>
              <a:gd name="adj" fmla="val 9412"/>
            </a:avLst>
          </a:prstGeom>
          <a:solidFill>
            <a:srgbClr val="EAF7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10412" y="5532120"/>
            <a:ext cx="10168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F6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of this stage: a structured, numeric feature matrix — one row per review, one column per weighted term — ready for rule induction.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Decision Logic: CN2 Rule Inducer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Reverse-engineering how the engine turns feature vectors into fraud flags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4480560"/>
          </a:xfrm>
          <a:prstGeom prst="roundRect">
            <a:avLst>
              <a:gd name="adj" fmla="val 1837"/>
            </a:avLst>
          </a:prstGeom>
          <a:solidFill>
            <a:srgbClr val="1B1F3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fakereview_pptx/icon_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19805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Methodology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68680" y="27340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6517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Covering algorithm: repeatedly finds the best single rule, removes the reviews it covers, then searches again on the remainder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8680" y="360273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35204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rule is evaluated by entropy / Laplace accuracy over the labeled training reviews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8680" y="447141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438912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Beam search explores multiple candidate conditions in parallel to avoid greedy local optima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68680" y="53400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1097280" y="525780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Rules are ordered into a decision list — the first matching rule fires for a given review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0" y="1600200"/>
            <a:ext cx="5696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Sample Generated Rule 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43600" y="2057400"/>
            <a:ext cx="569671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08192" y="2185416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19" name="Image 1" descr="/home/claude/fakereview_pptx/icon_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513" y="2240737"/>
            <a:ext cx="392278" cy="39227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66560" y="2130552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star_rating = 5 AND review_length &lt; 15 words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766560" y="244144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5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THEN class = FAKE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10222992" y="2057400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 0.91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5943600" y="2953512"/>
            <a:ext cx="569671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08192" y="3081528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25" name="Image 2" descr="/home/claude/fakereview_pptx/icon_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513" y="3136849"/>
            <a:ext cx="392278" cy="39227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66560" y="3026664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superlative_density &gt; 0.4 AND verified_purchase = No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6766560" y="333756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5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THEN class = FAKE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10222992" y="2953512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 0.87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5943600" y="3849624"/>
            <a:ext cx="569671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108192" y="397764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31" name="Image 3" descr="/home/claude/fakereview_pptx/icon_aler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513" y="4032961"/>
            <a:ext cx="392278" cy="39227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766560" y="3922776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sentiment_polarity extreme AND posting_burst = True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7"/>
          <p:cNvSpPr/>
          <p:nvPr/>
        </p:nvSpPr>
        <p:spPr>
          <a:xfrm>
            <a:off x="6766560" y="423367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5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THEN class = FAKE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10222992" y="3849624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 0.83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9"/>
          <p:cNvSpPr/>
          <p:nvPr/>
        </p:nvSpPr>
        <p:spPr>
          <a:xfrm>
            <a:off x="5943600" y="4745736"/>
            <a:ext cx="569671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6ED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108192" y="487375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7" name="Image 4" descr="/home/claude/fakereview_pptx/icon_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513" y="4929073"/>
            <a:ext cx="392278" cy="39227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66560" y="4818888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review_length ≥ 40 words AND verified_purchase = Yes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2"/>
          <p:cNvSpPr/>
          <p:nvPr/>
        </p:nvSpPr>
        <p:spPr>
          <a:xfrm>
            <a:off x="6766560" y="512978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THEN class = GENUINE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3"/>
          <p:cNvSpPr/>
          <p:nvPr/>
        </p:nvSpPr>
        <p:spPr>
          <a:xfrm>
            <a:off x="10222992" y="4745736"/>
            <a:ext cx="1280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 0.94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Where the Current Design Falls Short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Static rule sets vs. an evolving fraud landscape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5875">
            <a:solidFill>
              <a:srgbClr val="FF5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566928" cy="566928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6" name="Image 0" descr="/home/claude/fakereview_pptx/icon_aler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42" y="1982602"/>
            <a:ext cx="442204" cy="442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1F3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Current Limitation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4617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CN2 rules are learned once, from a fixed training snapshot.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Bot-generated spam evolves its phrasing, timing, and behavioral patterns — the static rule thresholds gradually stop matching new fraud tactics.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Result: rising false-negative rate as the model silently ages, with no built-in signal that retraining is needed.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76672" cy="4480560"/>
          </a:xfrm>
          <a:prstGeom prst="roundRect">
            <a:avLst>
              <a:gd name="adj" fmla="val 1837"/>
            </a:avLst>
          </a:prstGeom>
          <a:solidFill>
            <a:srgbClr val="1B1F3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9202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fakereview_pptx/icon_glob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042" y="1982602"/>
            <a:ext cx="442204" cy="442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984248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Proposed Redesign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629400" y="28254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0" y="274320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 a dynamic web-scraping module that continuously pulls fresh, real-world reviews from live marketplaces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629400" y="366674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2"/>
          <p:cNvSpPr/>
          <p:nvPr/>
        </p:nvSpPr>
        <p:spPr>
          <a:xfrm>
            <a:off x="6858000" y="3584448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New data feeds back into the Orange3 environment on a recurring schedule — not a one-time import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629400" y="450799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0" y="4425696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Keeps the training corpus current with emerging bot phrasing, review-farm patterns, and seasonal spam bursts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6629400" y="53492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6858000" y="5266944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A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Scraped batches are timestamped, enabling drift monitoring between rule performance and incoming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00A896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572000"/>
            <a:ext cx="3291840" cy="3291840"/>
          </a:xfrm>
          <a:prstGeom prst="ellipse">
            <a:avLst/>
          </a:prstGeom>
          <a:solidFill>
            <a:srgbClr val="FF5A5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From Static Rules to Adaptive Learning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A93B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architectural upgrade at the heart of this proposal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252A4D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FF5A5F"/>
          </a:solidFill>
          <a:ln/>
        </p:spPr>
      </p:sp>
      <p:pic>
        <p:nvPicPr>
          <p:cNvPr id="8" name="Image 0" descr="/home/claude/fakereview_pptx/icon_cros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721" y="2387041"/>
            <a:ext cx="392278" cy="3922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BEFORE — Static Rule-Based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012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Rules trained once on a fixed snapshot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60120" y="36393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No feedback loop from live marketplace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60120" y="4215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Manual retraining only, on an ad-hoc schedule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60120" y="47914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E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Accuracy silently decays as fraud tactics shift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63640" y="2057400"/>
            <a:ext cx="5120640" cy="3566160"/>
          </a:xfrm>
          <a:prstGeom prst="roundRect">
            <a:avLst>
              <a:gd name="adj" fmla="val 2308"/>
            </a:avLst>
          </a:prstGeom>
          <a:solidFill>
            <a:srgbClr val="00A896"/>
          </a:solidFill>
          <a:ln/>
        </p:spPr>
      </p:sp>
      <p:sp>
        <p:nvSpPr>
          <p:cNvPr id="15" name="Shape 12"/>
          <p:cNvSpPr/>
          <p:nvPr/>
        </p:nvSpPr>
        <p:spPr>
          <a:xfrm>
            <a:off x="6537960" y="233172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6" name="Image 1" descr="/home/claude/fakereview_pptx/icon_check_00A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3281" y="2387041"/>
            <a:ext cx="392278" cy="39227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7804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AFTER — Adaptive Learning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583680" y="30632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B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Continuous scraping keeps the corpus current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583680" y="36393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B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Model automatically re-weights fraud-detection logic over time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583680" y="42153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B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Drift monitoring flags when live accuracy drops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583680" y="47914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FBF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•  Retraining becomes scheduled and self-triggered, not manual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667</Words>
  <Application>Microsoft Office PowerPoint</Application>
  <PresentationFormat>Widescreen</PresentationFormat>
  <Paragraphs>90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PRAGADESHWARAN K B</cp:lastModifiedBy>
  <cp:revision>2</cp:revision>
  <dcterms:created xsi:type="dcterms:W3CDTF">2026-08-24T03:06:30Z</dcterms:created>
  <dcterms:modified xsi:type="dcterms:W3CDTF">2026-08-24T14:14:02Z</dcterms:modified>
</cp:coreProperties>
</file>